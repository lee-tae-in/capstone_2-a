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팀 소개. 한 문장으로: 막걸리를 빚고 남은 쌀을 그래놀라의 주원료로 되살리는 브랜드, 빚음 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장벽(인식, 가격)이 발표 전체의 뼈대라는 점을 먼저 짚고 넘어갑니다. 점수가 갈리는 4·5·6번에 시간을 가장 많이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주박이 무엇인지 사진으로 보여줍니다. 연간 발생량은 출처를 확인한 뒤 숫자를 넣습니다. 확인 전에는 숫자를 말하지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사례의 실패 원인을 장벽 열만 따라 읽으면 결국 가격과 인식 두 가지로 모입니다. 성공 사례는 원료를 재정의하고 참여를 이끌었다는 공통점이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 발표의 두 기둥이 정해집니다. 4번은 인식 장벽, 5번은 가격 장벽에 대한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 문장을 천천히 읽습니다. 순환 구조의 끝인 임팩트 누적이 다시 인식 전환으로 돌아간다는 점을 손으로 짚어줍니다.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시장 규모 숫자는 조사가 끝나면 채웁니다. 타깃은 설문 결과로 뒷받침할 예정입니다.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지도는 아직 개념도라는 점을 솔직하게 말합니다. 경쟁사 가격 조사가 끝나면 실제 점으로 바꿉니다.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설문 2단계(원료 공개 후)와 3단계(브랜딩 노출 후) 사이의 구매 의향 차이가 이 리네이밍의 효과를 검증합니다.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알코올과 위생은 소비자가 가장 먼저 묻는 질문입니다. 실제 공정은 레시피 담당과 대조해 확정합니다.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청중에게 QR로 접속하게 합니다. 시연 순서: 홈 → 스토리 메달 → ESG 가치 → 공정 → 구매 페이지에서 정기구독 담기 → 결제 완료. 홈페이지는 IMC의 Search, Action 단계를 맡습니다. 양조장 방문 영상(인스타·유튜브)은 Attention 단계 사례로 소개합니다.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리하베스트가 멈춘 지점이 수분, 부패, 물류비였습니다. 수거 주기와 건조 위치는 양조장 인터뷰 결과로 확정합니다.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에너지바와 커스텀 그래놀라는 범위를 줄이기 위해 뺐습니다. 커스텀은 로드맵 중기 계획에서 다시 나옵니다. 원가표가 완성되면 이 칸을 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파트가 점수를 가르는 핵심입니다. 양조장 방문과 인터뷰는 진행 중이고, 시제품이 나오면 시식 테스트를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결과가 나오면 막대를 실제 값으로 바꿉니다. 미션 KPI가 바로 이 회복 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단기는 미션, 중기는 사업 목표, 장기는 임팩트 목표와 짝을 이룹니다. 커스텀 그래놀라는 원가와 운영 부담 때문에 중기로 미뤘습니다.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근거가 없던 기존 수치(주박 1kg당 탄소 11kg 등)는 모두 뺐습니다. 이 결정 자체가 G 전략의 실천입니다. 홈페이지 ESG 섹션도 같은 원칙으로 바꿨습니다.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문장을 읽고 질의응답으로 넘어갑니다. 예상 질문은 노션 자료실의 부록을 참고합니다.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2A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20180"/>
            <a:ext cx="10566400" cy="412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2A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20180"/>
            <a:ext cx="10566400" cy="412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쌀발효곡물 그래놀라를 손으로 집는 모습">    </p:cNvPr>
          <p:cNvPicPr>
            <a:picLocks noChangeAspect="1"/>
          </p:cNvPicPr>
          <p:nvPr/>
        </p:nvPicPr>
        <p:blipFill>
          <a:blip r:embed="rId1"/>
          <a:srcRect l="22826" r="22826" t="0" b="0"/>
          <a:stretch/>
        </p:blipFill>
        <p:spPr>
          <a:xfrm>
            <a:off x="6604000" y="0"/>
            <a:ext cx="5588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04000" y="0"/>
            <a:ext cx="5588000" cy="6858000"/>
          </a:xfrm>
          <a:prstGeom prst="rect">
            <a:avLst/>
          </a:prstGeom>
          <a:gradFill rotWithShape="1">
            <a:gsLst>
              <a:gs pos="0">
                <a:srgbClr val="2A1F17"/>
              </a:gs>
              <a:gs pos="45000">
                <a:srgbClr val="2A1F17">
                  <a:alpha val="35000"/>
                </a:srgbClr>
              </a:gs>
              <a:gs pos="100000">
                <a:srgbClr val="2A1F17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812800" y="1732756"/>
            <a:ext cx="562483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8A9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캡스톤디자인 · 졸업이조</a:t>
            </a:r>
            <a:endParaRPr lang="en-US" sz="14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2235597"/>
            <a:ext cx="5624830" cy="1025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b="1" i="0" dirty="0">
                <a:solidFill>
                  <a:srgbClr val="F7F3ED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빚음 쌀</a:t>
            </a:r>
            <a:endParaRPr lang="en-US" sz="7500" dirty="0"/>
          </a:p>
        </p:txBody>
      </p:sp>
      <p:sp>
        <p:nvSpPr>
          <p:cNvPr id="6" name="Text 3"/>
          <p:cNvSpPr/>
          <p:nvPr/>
        </p:nvSpPr>
        <p:spPr>
          <a:xfrm>
            <a:off x="812800" y="3489722"/>
            <a:ext cx="562483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EADFCF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버려지던 쌀발효곡물을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EADFCF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매일의 아침으로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12800" y="4597003"/>
            <a:ext cx="562483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A89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태인 · 진호 · 수진 · 지훈 · 종선 · 다은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A89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[발표일]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발표 순서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88095"/>
            <a:ext cx="5283200" cy="0"/>
          </a:xfrm>
          <a:prstGeom prst="line">
            <a:avLst/>
          </a:prstGeom>
          <a:noFill/>
          <a:ln w="6350">
            <a:solidFill>
              <a:srgbClr val="E3D7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1743670"/>
            <a:ext cx="406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46200" y="1743670"/>
            <a:ext cx="314291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46200" y="2025551"/>
            <a:ext cx="36616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주박은 왜 버려지고, 업사이클링 푸드는 왜 멈췄나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96000" y="1588095"/>
            <a:ext cx="5283200" cy="0"/>
          </a:xfrm>
          <a:prstGeom prst="line">
            <a:avLst/>
          </a:prstGeom>
          <a:noFill/>
          <a:ln w="6350">
            <a:solidFill>
              <a:srgbClr val="E3D7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0" y="1743670"/>
            <a:ext cx="406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29400" y="1743670"/>
            <a:ext cx="169554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025551"/>
            <a:ext cx="1973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착한 소비에서 일상 소비로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2394446"/>
            <a:ext cx="5283200" cy="0"/>
          </a:xfrm>
          <a:prstGeom prst="line">
            <a:avLst/>
          </a:prstGeom>
          <a:noFill/>
          <a:ln w="6350">
            <a:solidFill>
              <a:srgbClr val="E3D7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2550021"/>
            <a:ext cx="406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46200" y="2550021"/>
            <a:ext cx="220609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시장과 방향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46200" y="2831902"/>
            <a:ext cx="25702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누구에게, 어떤 자리에서 팔 것인가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6000" y="2394446"/>
            <a:ext cx="5283200" cy="0"/>
          </a:xfrm>
          <a:prstGeom prst="line">
            <a:avLst/>
          </a:prstGeom>
          <a:noFill/>
          <a:ln w="6350">
            <a:solidFill>
              <a:srgbClr val="E3D7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6000" y="2550021"/>
            <a:ext cx="406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2550021"/>
            <a:ext cx="132556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 장벽 돌파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2831902"/>
            <a:ext cx="15297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이름, 공정, 홈페이지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3200797"/>
            <a:ext cx="5283200" cy="0"/>
          </a:xfrm>
          <a:prstGeom prst="line">
            <a:avLst/>
          </a:prstGeom>
          <a:noFill/>
          <a:ln w="6350">
            <a:solidFill>
              <a:srgbClr val="E3D7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" y="3356372"/>
            <a:ext cx="406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46200" y="3356372"/>
            <a:ext cx="145673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장벽 돌파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46200" y="3638252"/>
            <a:ext cx="145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공급망 설계와 가격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6000" y="3200797"/>
            <a:ext cx="5283200" cy="0"/>
          </a:xfrm>
          <a:prstGeom prst="line">
            <a:avLst/>
          </a:prstGeom>
          <a:noFill/>
          <a:ln w="6350">
            <a:solidFill>
              <a:srgbClr val="E3D7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6000" y="3356372"/>
            <a:ext cx="406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29400" y="3356372"/>
            <a:ext cx="165804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3638252"/>
            <a:ext cx="1928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시식·설문·양조장 인터뷰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2800" y="4007148"/>
            <a:ext cx="5283200" cy="0"/>
          </a:xfrm>
          <a:prstGeom prst="line">
            <a:avLst/>
          </a:prstGeom>
          <a:noFill/>
          <a:ln w="6350">
            <a:solidFill>
              <a:srgbClr val="E3D7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2800" y="4162723"/>
            <a:ext cx="406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7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346200" y="4162723"/>
            <a:ext cx="133340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46200" y="4444603"/>
            <a:ext cx="15391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→ 중기 → 장기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96000" y="4007148"/>
            <a:ext cx="5283200" cy="0"/>
          </a:xfrm>
          <a:prstGeom prst="line">
            <a:avLst/>
          </a:prstGeom>
          <a:noFill/>
          <a:ln w="6350">
            <a:solidFill>
              <a:srgbClr val="E3D7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6000" y="4162723"/>
            <a:ext cx="406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8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629400" y="4162723"/>
            <a:ext cx="170070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임팩트와 결론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29400" y="4444603"/>
            <a:ext cx="19798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숫자로 말하는 ESG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캡스톤디자인  | 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문제 정의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막걸리를 거르면, 쌀이 남는다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20180"/>
            <a:ext cx="6324600" cy="1574701"/>
          </a:xfrm>
          <a:prstGeom prst="roundRect">
            <a:avLst>
              <a:gd name="adj" fmla="val 6452"/>
            </a:avLst>
          </a:prstGeom>
          <a:solidFill>
            <a:srgbClr val="2A1F17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23380"/>
            <a:ext cx="60434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A9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전통주 주박 연간 발생량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2387501"/>
            <a:ext cx="604342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7F3ED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[___ 톤]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41400" y="3078361"/>
            <a:ext cx="60434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9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확인 후 기입 (수치·출처 DB)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975" y="3650456"/>
            <a:ext cx="6318250" cy="1014809"/>
          </a:xfrm>
          <a:prstGeom prst="roundRect">
            <a:avLst>
              <a:gd name="adj" fmla="val 9699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750" y="3882231"/>
            <a:ext cx="6030341" cy="26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낭비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1047750" y="4195961"/>
            <a:ext cx="6030341" cy="26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7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술을 거르고 남은 주박은 폐기되거나 저부가가치 사료로 처리된다.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815975" y="4824016"/>
            <a:ext cx="6318250" cy="1014809"/>
          </a:xfrm>
          <a:prstGeom prst="roundRect">
            <a:avLst>
              <a:gd name="adj" fmla="val 9699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7750" y="5055791"/>
            <a:ext cx="6030341" cy="26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가치소비 트렌드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1047750" y="5369520"/>
            <a:ext cx="6030341" cy="26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7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제로웨이스트와 자원순환을 따지는 소비자가 늘고 있다.</a:t>
            </a:r>
            <a:endParaRPr lang="en-US" sz="1170" dirty="0"/>
          </a:p>
        </p:txBody>
      </p:sp>
      <p:pic>
        <p:nvPicPr>
          <p:cNvPr id="14" name="Image 0" descr="막걸리를 거르고 남은 쌀">    </p:cNvPr>
          <p:cNvPicPr>
            <a:picLocks noChangeAspect="1"/>
          </p:cNvPicPr>
          <p:nvPr/>
        </p:nvPicPr>
        <p:blipFill>
          <a:blip r:embed="rId1"/>
          <a:srcRect l="0" r="0" t="17742" b="17742"/>
          <a:stretch/>
        </p:blipFill>
        <p:spPr>
          <a:xfrm>
            <a:off x="7442200" y="1920180"/>
            <a:ext cx="3937000" cy="3810000"/>
          </a:xfrm>
          <a:prstGeom prst="roundRect">
            <a:avLst>
              <a:gd name="adj" fmla="val 2667"/>
            </a:avLst>
          </a:prstGeom>
        </p:spPr>
      </p:pic>
      <p:sp>
        <p:nvSpPr>
          <p:cNvPr id="15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캡스톤디자인  | 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문제 정의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먼저 간 업사이클링 푸드들이 멈춘 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26530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150" y="1920180"/>
            <a:ext cx="0" cy="2196505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7900" y="2059880"/>
          <a:ext cx="10248900" cy="1929805"/>
        </p:xfrm>
        <a:graphic>
          <a:graphicData uri="http://schemas.openxmlformats.org/drawingml/2006/table">
            <a:tbl>
              <a:tblPr/>
              <a:tblGrid>
                <a:gridCol w="2459736"/>
                <a:gridCol w="5739384"/>
                <a:gridCol w="2049780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2A1F1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사례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7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7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2A1F1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무엇이 문제였나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7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2A1F1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장벽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7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C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1F1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CJ 익사이클 바삭칩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1F1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가격 부담, 맛·가격이라는 본질 경쟁력 부족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83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가격 + 인식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1F1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리하베스트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1F1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수분 많은 원료의 부패, 신선 조달·제조 비용 과다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83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가격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1F1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어글리어스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1F1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수거·선별·포장 인건비와 배송비, 품질 균일성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83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가격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1F1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널담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A1F1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첨가물 비용, 위생·싸구려 원료라는 인식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83A2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인식 + 가격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4421485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사례: AB InBev 에버그레인(원료 재정의·B2B), 일본 술지게미 코스메틱(프리미엄 성분화), 영국 토스트 에일(참여형 스토리)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각 사례의 사실관계는 기사·인터뷰 출처로 재확인 중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캡스톤디자인  | 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A9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문제 정의 · 결론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F7F3ED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실패의 원인은 두 가지로 모인다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77330"/>
            <a:ext cx="5143500" cy="1998960"/>
          </a:xfrm>
          <a:prstGeom prst="roundRect">
            <a:avLst>
              <a:gd name="adj" fmla="val 6036"/>
            </a:avLst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0300" y="2288480"/>
            <a:ext cx="4656836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8A97E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인식 장벽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30300" y="3055541"/>
            <a:ext cx="4656836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ADF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'찌꺼기'라는 이름, 위생과 알코올에 대한 불안, 맛에 대한 의심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29350" y="1977330"/>
            <a:ext cx="5143500" cy="1998960"/>
          </a:xfrm>
          <a:prstGeom prst="roundRect">
            <a:avLst>
              <a:gd name="adj" fmla="val 6036"/>
            </a:avLst>
          </a:prstGeom>
          <a:noFill/>
          <a:ln w="12700">
            <a:solidFill>
              <a:srgbClr val="C8A9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40500" y="2288480"/>
            <a:ext cx="4656836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8A97E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가격 장벽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540500" y="3055541"/>
            <a:ext cx="46568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ADF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수분·부패·물류비 때문에 높아지는 조달과 가공 비용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433824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7F3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쌀은 이 두 장벽을 넘는 것에서 출발한다.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89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캡스톤디자인  | 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목표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착한 소비에서 일상 소비로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20180"/>
            <a:ext cx="1088339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업사이클링 푸드를 '착해서 한 번 사주는 제품'에서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B83A2E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'맛있고 합리적이라 계속 사는 제품'</a:t>
            </a:r>
            <a:r>
              <a:rPr lang="en-US" sz="240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으로 바꾼다.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5975" y="3142555"/>
            <a:ext cx="1308298" cy="544810"/>
          </a:xfrm>
          <a:prstGeom prst="roundRect">
            <a:avLst>
              <a:gd name="adj" fmla="val 50000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 전환</a:t>
            </a:r>
            <a:endParaRPr lang="en-US" sz="16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54448" y="3313311"/>
            <a:ext cx="406400" cy="20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91023" y="3142555"/>
            <a:ext cx="1075234" cy="544810"/>
          </a:xfrm>
          <a:prstGeom prst="roundRect">
            <a:avLst>
              <a:gd name="adj" fmla="val 50000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재구매</a:t>
            </a:r>
            <a:endParaRPr lang="en-US" sz="160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96432" y="3313311"/>
            <a:ext cx="406400" cy="203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33007" y="3142555"/>
            <a:ext cx="1308298" cy="544810"/>
          </a:xfrm>
          <a:prstGeom prst="roundRect">
            <a:avLst>
              <a:gd name="adj" fmla="val 50000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지속</a:t>
            </a:r>
            <a:endParaRPr lang="en-US" sz="1600" dirty="0"/>
          </a:p>
        </p:txBody>
      </p:sp>
      <p:pic>
        <p:nvPicPr>
          <p:cNvPr id="10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71480" y="3313311"/>
            <a:ext cx="406400" cy="203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08055" y="3142555"/>
            <a:ext cx="1495227" cy="544810"/>
          </a:xfrm>
          <a:prstGeom prst="roundRect">
            <a:avLst>
              <a:gd name="adj" fmla="val 50000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임팩트 누적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12800" y="3995341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인식이 바뀌어야 재구매가 생기고, 재구매가 있어야 사업과 환경 효과가 함께 쌓인다. · 이론적 틀: 공유가치창출(CSV), Porter &amp; Kramer, 2011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캡스톤디자인  | 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시장과 방향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누구에게, 어느 시장에서 팔 것인가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23355"/>
            <a:ext cx="6150570" cy="753070"/>
          </a:xfrm>
          <a:prstGeom prst="roundRect">
            <a:avLst>
              <a:gd name="adj" fmla="val 13070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104330"/>
            <a:ext cx="81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TAM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2950" y="2184301"/>
            <a:ext cx="365971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시리얼·그래놀라 시장 전체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9273" y="2157611"/>
            <a:ext cx="1016298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[___ 억 원]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5975" y="2809776"/>
            <a:ext cx="6150570" cy="753070"/>
          </a:xfrm>
          <a:prstGeom prst="roundRect">
            <a:avLst>
              <a:gd name="adj" fmla="val 13070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750" y="2990751"/>
            <a:ext cx="81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SAM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12950" y="3070721"/>
            <a:ext cx="365971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건강·친환경 프리미엄 그래놀라 시장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9273" y="3044031"/>
            <a:ext cx="1016298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[___ 억 원]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5975" y="3696196"/>
            <a:ext cx="6150570" cy="753070"/>
          </a:xfrm>
          <a:prstGeom prst="roundRect">
            <a:avLst>
              <a:gd name="adj" fmla="val 13070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7750" y="3877171"/>
            <a:ext cx="81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SOM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12950" y="3957141"/>
            <a:ext cx="365971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3년, D2C·펀딩으로 확보할 목표 시장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9273" y="3930452"/>
            <a:ext cx="1016298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[___ 억 원]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4579441"/>
            <a:ext cx="63416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규모는 조사 후 출처와 함께 기입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77695" y="1923355"/>
            <a:ext cx="4098330" cy="1366441"/>
          </a:xfrm>
          <a:prstGeom prst="roundRect">
            <a:avLst>
              <a:gd name="adj" fmla="val 7203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09470" y="2155130"/>
            <a:ext cx="3743823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타깃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09470" y="2495451"/>
            <a:ext cx="3743823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가치소비를 지향하는 MZ세대. 소비로 신념을 드러내는 미닝아웃 소비자.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77695" y="3423146"/>
            <a:ext cx="4098330" cy="1366441"/>
          </a:xfrm>
          <a:prstGeom prst="roundRect">
            <a:avLst>
              <a:gd name="adj" fmla="val 7203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09470" y="3654921"/>
            <a:ext cx="3743823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타깃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09470" y="3995241"/>
            <a:ext cx="3743823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영양 성분을 꼼꼼히 따지는 헬스 컨슈머.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캡스톤디자인  | 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시장과 방향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합리적 프리미엄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23355"/>
            <a:ext cx="5581650" cy="3803650"/>
          </a:xfrm>
          <a:prstGeom prst="roundRect">
            <a:avLst>
              <a:gd name="adj" fmla="val 2588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06800" y="2174180"/>
            <a:ext cx="12700" cy="3302000"/>
          </a:xfrm>
          <a:prstGeom prst="rect">
            <a:avLst/>
          </a:prstGeom>
          <a:solidFill>
            <a:srgbClr val="E3D7C5"/>
          </a:solidFill>
          <a:ln/>
        </p:spPr>
      </p:sp>
      <p:sp>
        <p:nvSpPr>
          <p:cNvPr id="6" name="Shape 4"/>
          <p:cNvSpPr/>
          <p:nvPr/>
        </p:nvSpPr>
        <p:spPr>
          <a:xfrm>
            <a:off x="1066800" y="3825180"/>
            <a:ext cx="5080000" cy="12700"/>
          </a:xfrm>
          <a:prstGeom prst="rect">
            <a:avLst/>
          </a:prstGeom>
          <a:solidFill>
            <a:srgbClr val="E3D7C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3491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100g당 가격 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8400" y="21741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↑ 가치 인지도</a:t>
            </a:r>
            <a:endParaRPr lang="en-US" sz="1200" dirty="0"/>
          </a:p>
        </p:txBody>
      </p:sp>
      <p:pic>
        <p:nvPicPr>
          <p:cNvPr id="9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55800" y="4523680"/>
            <a:ext cx="177800" cy="177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09800" y="4460180"/>
            <a:ext cx="1701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대중 그래놀라</a:t>
            </a:r>
            <a:endParaRPr lang="en-US" sz="1300" dirty="0"/>
          </a:p>
        </p:txBody>
      </p:sp>
      <p:pic>
        <p:nvPicPr>
          <p:cNvPr id="11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94300" y="2872680"/>
            <a:ext cx="177800" cy="177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8800" y="3126680"/>
            <a:ext cx="19621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프리미엄 그래놀라</a:t>
            </a:r>
            <a:endParaRPr lang="en-US" sz="1300" dirty="0"/>
          </a:p>
        </p:txBody>
      </p:sp>
      <p:pic>
        <p:nvPicPr>
          <p:cNvPr id="13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97300" y="2618680"/>
            <a:ext cx="279400" cy="279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17800" y="2301180"/>
            <a:ext cx="1701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83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756400" y="1920180"/>
            <a:ext cx="4761484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프리미엄 품질을</a:t>
            </a:r>
            <a:endParaRPr lang="en-US" sz="2200" dirty="0"/>
          </a:p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프리미엄 하단 가격에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6756400" y="2880221"/>
            <a:ext cx="476148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소량 OEM 생산으로는 대형 브랜드의 가성비와 경쟁할 수 없다. 대신 맛과 원료 이야기로 프리미엄 그래놀라 수준의 가치를 주고, 가격은 그 아래에 둔다.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756400" y="3911402"/>
            <a:ext cx="4761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개념도입니다. 경쟁사 100g당 가격 조사 후 실측 위치로 교체합니다.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캡스톤디자인  | 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인식 장벽 돌파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이름부터 바꾼다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16361"/>
            <a:ext cx="3586136" cy="59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strike="sngStrike" dirty="0">
                <a:solidFill>
                  <a:srgbClr val="8C7B6A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술지게미 · 술찌꺼기</a:t>
            </a:r>
            <a:endParaRPr lang="en-US" sz="3200" dirty="0"/>
          </a:p>
        </p:txBody>
      </p:sp>
      <p:pic>
        <p:nvPicPr>
          <p:cNvPr id="5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50085" y="2410321"/>
            <a:ext cx="7620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7685" y="2174180"/>
            <a:ext cx="3032748" cy="8787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B83A2E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쌀발효곡물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15975" y="3589536"/>
            <a:ext cx="3380284" cy="1332111"/>
          </a:xfrm>
          <a:prstGeom prst="roundRect">
            <a:avLst>
              <a:gd name="adj" fmla="val 7389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7750" y="3821311"/>
            <a:ext cx="300423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뜻이 바로 보인다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47750" y="4161631"/>
            <a:ext cx="3004236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쌀을 발효한 곡물이라는 사실을 그대로 담았다.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05809" y="3589536"/>
            <a:ext cx="3380383" cy="1332111"/>
          </a:xfrm>
          <a:prstGeom prst="roundRect">
            <a:avLst>
              <a:gd name="adj" fmla="val 7389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7584" y="3821311"/>
            <a:ext cx="3004338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거부감이 없다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37584" y="4161631"/>
            <a:ext cx="3004338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'찌꺼기'와 '폐기물'의 느낌을 지웠다.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995741" y="3589536"/>
            <a:ext cx="3380284" cy="1332111"/>
          </a:xfrm>
          <a:prstGeom prst="roundRect">
            <a:avLst>
              <a:gd name="adj" fmla="val 7389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7516" y="3821311"/>
            <a:ext cx="300423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법은 따로 지킨다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27516" y="4161631"/>
            <a:ext cx="3004236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마케팅 명칭과 법적 원재료명 표기를 구분한다.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캡스톤디자인  | 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인식 장벽 돌파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과정을 숨기지 않는다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23355"/>
            <a:ext cx="3431084" cy="778470"/>
          </a:xfrm>
          <a:prstGeom prst="roundRect">
            <a:avLst>
              <a:gd name="adj" fmla="val 12643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078930"/>
            <a:ext cx="2004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3572" y="2078930"/>
            <a:ext cx="20532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냉장 수거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73572" y="2332930"/>
            <a:ext cx="2392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부패 전 수거해 식품 원료로 관리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0409" y="1923355"/>
            <a:ext cx="3431084" cy="778470"/>
          </a:xfrm>
          <a:prstGeom prst="roundRect">
            <a:avLst>
              <a:gd name="adj" fmla="val 12643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1384" y="2078930"/>
            <a:ext cx="2004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38005" y="2078930"/>
            <a:ext cx="17728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세척·살균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38005" y="2332930"/>
            <a:ext cx="20654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이물질 제거, 위생 기준 충족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44842" y="1923355"/>
            <a:ext cx="3431084" cy="778470"/>
          </a:xfrm>
          <a:prstGeom prst="roundRect">
            <a:avLst>
              <a:gd name="adj" fmla="val 12643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5817" y="2078930"/>
            <a:ext cx="2004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02439" y="2078930"/>
            <a:ext cx="15553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저온 건조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02439" y="2332930"/>
            <a:ext cx="18054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수분을 날려 보관성 확보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2835176"/>
            <a:ext cx="3431084" cy="778470"/>
          </a:xfrm>
          <a:prstGeom prst="roundRect">
            <a:avLst>
              <a:gd name="adj" fmla="val 12643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950" y="2990751"/>
            <a:ext cx="2004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73572" y="2990751"/>
            <a:ext cx="185167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잔류 알코올 검사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73572" y="3244751"/>
            <a:ext cx="21572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1% 미만 확인 후 다음 단계로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0409" y="2835176"/>
            <a:ext cx="3431084" cy="778470"/>
          </a:xfrm>
          <a:prstGeom prst="roundRect">
            <a:avLst>
              <a:gd name="adj" fmla="val 12643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61384" y="2990751"/>
            <a:ext cx="2004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38005" y="2990751"/>
            <a:ext cx="192566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분쇄·혼합·굽기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38005" y="3244751"/>
            <a:ext cx="22434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레시피 9단계로 그래놀라 완성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44842" y="2835176"/>
            <a:ext cx="3431084" cy="778470"/>
          </a:xfrm>
          <a:prstGeom prst="roundRect">
            <a:avLst>
              <a:gd name="adj" fmla="val 12643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25817" y="2990751"/>
            <a:ext cx="2004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7A5C32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02439" y="2990751"/>
            <a:ext cx="143232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02439" y="3244751"/>
            <a:ext cx="16578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원재료·영양성분 표시</a:t>
            </a:r>
            <a:endParaRPr lang="en-US" sz="1200" dirty="0"/>
          </a:p>
        </p:txBody>
      </p:sp>
      <p:pic>
        <p:nvPicPr>
          <p:cNvPr id="28" name="Image 0" descr="저온 건조 과정 일러스트">    </p:cNvPr>
          <p:cNvPicPr>
            <a:picLocks noChangeAspect="1"/>
          </p:cNvPicPr>
          <p:nvPr/>
        </p:nvPicPr>
        <p:blipFill>
          <a:blip r:embed="rId1"/>
          <a:srcRect l="0" r="0" t="89" b="89"/>
          <a:stretch/>
        </p:blipFill>
        <p:spPr>
          <a:xfrm>
            <a:off x="812800" y="3921621"/>
            <a:ext cx="3302000" cy="1397000"/>
          </a:xfrm>
          <a:prstGeom prst="roundRect">
            <a:avLst>
              <a:gd name="adj" fmla="val 7273"/>
            </a:avLst>
          </a:prstGeom>
        </p:spPr>
      </p:pic>
      <p:pic>
        <p:nvPicPr>
          <p:cNvPr id="29" name="Image 1" descr="오븐 굽기 과정 일러스트">    </p:cNvPr>
          <p:cNvPicPr>
            <a:picLocks noChangeAspect="1"/>
          </p:cNvPicPr>
          <p:nvPr/>
        </p:nvPicPr>
        <p:blipFill>
          <a:blip r:embed="rId2"/>
          <a:srcRect l="0" r="0" t="89" b="89"/>
          <a:stretch/>
        </p:blipFill>
        <p:spPr>
          <a:xfrm>
            <a:off x="4267200" y="3921621"/>
            <a:ext cx="3302000" cy="1397000"/>
          </a:xfrm>
          <a:prstGeom prst="roundRect">
            <a:avLst>
              <a:gd name="adj" fmla="val 7273"/>
            </a:avLst>
          </a:prstGeom>
        </p:spPr>
      </p:pic>
      <p:sp>
        <p:nvSpPr>
          <p:cNvPr id="30" name="Shape 26"/>
          <p:cNvSpPr/>
          <p:nvPr/>
        </p:nvSpPr>
        <p:spPr>
          <a:xfrm>
            <a:off x="7721600" y="3921621"/>
            <a:ext cx="3657600" cy="1397000"/>
          </a:xfrm>
          <a:prstGeom prst="roundRect">
            <a:avLst>
              <a:gd name="adj" fmla="val 7273"/>
            </a:avLst>
          </a:prstGeom>
          <a:solidFill>
            <a:srgbClr val="2A1F17"/>
          </a:solidFill>
          <a:ln/>
        </p:spPr>
      </p:sp>
      <p:sp>
        <p:nvSpPr>
          <p:cNvPr id="31" name="Text 27"/>
          <p:cNvSpPr/>
          <p:nvPr/>
        </p:nvSpPr>
        <p:spPr>
          <a:xfrm>
            <a:off x="7899400" y="4234061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A9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기준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899400" y="4510881"/>
            <a:ext cx="340106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7F3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완제품 잔류 알코올 1% 미만이어야 일반 식품으로 판매 (주세법 제2조)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캡스톤디자인  | 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인식 장벽 돌파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전략의 실물 증거, 홈페이지</a:t>
            </a:r>
            <a:endParaRPr lang="en-US" sz="3200" dirty="0"/>
          </a:p>
        </p:txBody>
      </p:sp>
      <p:pic>
        <p:nvPicPr>
          <p:cNvPr id="4" name="Image 0" descr="빚음 쌀 홈페이지 데스크톱 첫 화면">    </p:cNvPr>
          <p:cNvPicPr>
            <a:picLocks noChangeAspect="1"/>
          </p:cNvPicPr>
          <p:nvPr/>
        </p:nvPicPr>
        <p:blipFill>
          <a:blip r:embed="rId1"/>
          <a:srcRect l="0" r="0" t="68" b="68"/>
          <a:stretch/>
        </p:blipFill>
        <p:spPr>
          <a:xfrm>
            <a:off x="819150" y="1926530"/>
            <a:ext cx="5575300" cy="3479800"/>
          </a:xfrm>
          <a:prstGeom prst="roundRect">
            <a:avLst>
              <a:gd name="adj" fmla="val 2007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923355"/>
            <a:ext cx="5581650" cy="3486150"/>
          </a:xfrm>
          <a:prstGeom prst="roundRect">
            <a:avLst>
              <a:gd name="adj" fmla="val 2095"/>
            </a:avLst>
          </a:prstGeom>
          <a:noFill/>
          <a:ln w="6350">
            <a:solidFill>
              <a:srgbClr val="E3D7C5"/>
            </a:solidFill>
            <a:prstDash val="solid"/>
          </a:ln>
        </p:spPr>
      </p:sp>
      <p:pic>
        <p:nvPicPr>
          <p:cNvPr id="6" name="Image 1" descr="빚음 쌀 홈페이지 모바일 구매 화면">    </p:cNvPr>
          <p:cNvPicPr>
            <a:picLocks noChangeAspect="1"/>
          </p:cNvPicPr>
          <p:nvPr/>
        </p:nvPicPr>
        <p:blipFill>
          <a:blip r:embed="rId2"/>
          <a:srcRect l="241" r="241" t="0" b="0"/>
          <a:stretch/>
        </p:blipFill>
        <p:spPr>
          <a:xfrm>
            <a:off x="6661150" y="1926530"/>
            <a:ext cx="1600200" cy="3479800"/>
          </a:xfrm>
          <a:prstGeom prst="roundRect">
            <a:avLst>
              <a:gd name="adj" fmla="val 4365"/>
            </a:avLst>
          </a:prstGeom>
        </p:spPr>
      </p:pic>
      <p:sp>
        <p:nvSpPr>
          <p:cNvPr id="7" name="Shape 3"/>
          <p:cNvSpPr/>
          <p:nvPr/>
        </p:nvSpPr>
        <p:spPr>
          <a:xfrm>
            <a:off x="6657975" y="1923355"/>
            <a:ext cx="1606550" cy="3486150"/>
          </a:xfrm>
          <a:prstGeom prst="roundRect">
            <a:avLst>
              <a:gd name="adj" fmla="val 4545"/>
            </a:avLst>
          </a:prstGeom>
          <a:noFill/>
          <a:ln w="6350">
            <a:solidFill>
              <a:srgbClr val="E3D7C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521700" y="1920180"/>
            <a:ext cx="294322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찾아보기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공정·FAQ·원료 설명 공개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521700" y="2575421"/>
            <a:ext cx="294322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구매하기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1봉·세트·정기구독</a:t>
            </a:r>
            <a:endParaRPr lang="en-US" sz="1300" dirty="0"/>
          </a:p>
        </p:txBody>
      </p:sp>
      <p:pic>
        <p:nvPicPr>
          <p:cNvPr id="10" name="Image 2" descr="홈페이지 접속 QR코드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21700" y="3230662"/>
            <a:ext cx="1270000" cy="1270000"/>
          </a:xfrm>
          <a:prstGeom prst="roundRect">
            <a:avLst>
              <a:gd name="adj" fmla="val 4000"/>
            </a:avLst>
          </a:prstGeom>
        </p:spPr>
      </p:pic>
      <p:sp>
        <p:nvSpPr>
          <p:cNvPr id="11" name="Text 6"/>
          <p:cNvSpPr/>
          <p:nvPr/>
        </p:nvSpPr>
        <p:spPr>
          <a:xfrm>
            <a:off x="8521700" y="4627662"/>
            <a:ext cx="29432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접속해 보세요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캡스톤디자인  | 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가격 장벽 돌파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부패와 물류비를 공급망 설계로 넘는다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030016"/>
            <a:ext cx="1619250" cy="854670"/>
          </a:xfrm>
          <a:prstGeom prst="roundRect">
            <a:avLst>
              <a:gd name="adj" fmla="val 11516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50" y="2210991"/>
            <a:ext cx="135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양조장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71550" y="2490391"/>
            <a:ext cx="1358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주박 배출</a:t>
            </a:r>
            <a:endParaRPr lang="en-US" sz="1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40000" y="2381151"/>
            <a:ext cx="304800" cy="152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49575" y="2030016"/>
            <a:ext cx="1619250" cy="854670"/>
          </a:xfrm>
          <a:prstGeom prst="roundRect">
            <a:avLst>
              <a:gd name="adj" fmla="val 11516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05150" y="2210991"/>
            <a:ext cx="135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냉장 수거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105150" y="2490391"/>
            <a:ext cx="1358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부패 전 수거 주기</a:t>
            </a:r>
            <a:endParaRPr lang="en-US" sz="12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73600" y="2381151"/>
            <a:ext cx="304800" cy="152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83175" y="1923355"/>
            <a:ext cx="1619250" cy="1067991"/>
          </a:xfrm>
          <a:prstGeom prst="roundRect">
            <a:avLst>
              <a:gd name="adj" fmla="val 9216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238750" y="2104330"/>
            <a:ext cx="135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건조·분쇄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238750" y="2383730"/>
            <a:ext cx="13589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vs 공장 [결정 중]</a:t>
            </a:r>
            <a:endParaRPr lang="en-US" sz="12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07200" y="2381151"/>
            <a:ext cx="304800" cy="1524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216775" y="2030016"/>
            <a:ext cx="1619250" cy="854670"/>
          </a:xfrm>
          <a:prstGeom prst="roundRect">
            <a:avLst>
              <a:gd name="adj" fmla="val 11516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372350" y="2210991"/>
            <a:ext cx="135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HACCP OEM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372350" y="2490391"/>
            <a:ext cx="1358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위탁 제조</a:t>
            </a:r>
            <a:endParaRPr lang="en-US" sz="1200" dirty="0"/>
          </a:p>
        </p:txBody>
      </p:sp>
      <p:pic>
        <p:nvPicPr>
          <p:cNvPr id="19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40800" y="2381151"/>
            <a:ext cx="304800" cy="1524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350375" y="2030016"/>
            <a:ext cx="1619250" cy="854670"/>
          </a:xfrm>
          <a:prstGeom prst="roundRect">
            <a:avLst>
              <a:gd name="adj" fmla="val 11516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505950" y="2210991"/>
            <a:ext cx="135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D2C·구독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505950" y="2490391"/>
            <a:ext cx="1358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자사몰 판매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5975" y="3302496"/>
            <a:ext cx="5175250" cy="1332111"/>
          </a:xfrm>
          <a:prstGeom prst="roundRect">
            <a:avLst>
              <a:gd name="adj" fmla="val 7389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1047750" y="3534271"/>
            <a:ext cx="4853051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양조장 안에서는 만들 수 없다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1047750" y="3874591"/>
            <a:ext cx="4853051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양조장 시설에서 일반 식품을 함께 만드는 것은 원칙적으로 금지된다. 그래서 HACCP 인증 OEM에 맡긴다. (식품위생법 시행규칙 별표 14)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200775" y="3302496"/>
            <a:ext cx="5175250" cy="1332111"/>
          </a:xfrm>
          <a:prstGeom prst="roundRect">
            <a:avLst>
              <a:gd name="adj" fmla="val 7389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32550" y="3534271"/>
            <a:ext cx="4853051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위생 관리하면 폐기물이 아니다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6432550" y="3874591"/>
            <a:ext cx="4853051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식품위생법에 맞게 원료로 관리하면 폐기물에서 제외된다. 그래서 냉장 수거부터 시작한다. (환경부 유권해석, 원문 확인 중)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캡스톤디자인  | 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가격 장벽 돌파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그래놀라 한 종류, 세 가지 구매 방법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23355"/>
            <a:ext cx="3380284" cy="1710531"/>
          </a:xfrm>
          <a:prstGeom prst="roundRect">
            <a:avLst>
              <a:gd name="adj" fmla="val 5754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80530"/>
            <a:ext cx="295191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그래놀라 1봉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2500511"/>
            <a:ext cx="295191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83A2E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8,900원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73150" y="3145631"/>
            <a:ext cx="295191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250g · 100g당 약 3,560원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5809" y="1923355"/>
            <a:ext cx="3380383" cy="1710531"/>
          </a:xfrm>
          <a:prstGeom prst="roundRect">
            <a:avLst>
              <a:gd name="adj" fmla="val 5754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2984" y="2180530"/>
            <a:ext cx="295201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2봉 세트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2984" y="2500511"/>
            <a:ext cx="295201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83A2E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16,900원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2984" y="3145631"/>
            <a:ext cx="295201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500g · 1봉씩보다 900원 할인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5741" y="1923355"/>
            <a:ext cx="3380284" cy="1710531"/>
          </a:xfrm>
          <a:prstGeom prst="roundRect">
            <a:avLst>
              <a:gd name="adj" fmla="val 5754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2916" y="2180530"/>
            <a:ext cx="295191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정기구독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52916" y="2500511"/>
            <a:ext cx="295191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83A2E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월 15,900원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52916" y="3145631"/>
            <a:ext cx="295191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매달 2봉 · 세트보다 1,000원 할인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3941862"/>
            <a:ext cx="3602534" cy="1180902"/>
          </a:xfrm>
          <a:prstGeom prst="roundRect">
            <a:avLst>
              <a:gd name="adj" fmla="val 8604"/>
            </a:avLst>
          </a:prstGeom>
          <a:solidFill>
            <a:srgbClr val="2A1F17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" y="4145062"/>
            <a:ext cx="32396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A9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1봉 기준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1400" y="4409182"/>
            <a:ext cx="323969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3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쌀발효곡물 30% (건조 기준 75g)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21709" y="3945037"/>
            <a:ext cx="6754316" cy="1174552"/>
          </a:xfrm>
          <a:prstGeom prst="roundRect">
            <a:avLst>
              <a:gd name="adj" fmla="val 8380"/>
            </a:avLst>
          </a:prstGeom>
          <a:solidFill>
            <a:srgbClr val="FDFAF6"/>
          </a:solidFill>
          <a:ln w="6350">
            <a:solidFill>
              <a:srgbClr val="A8987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853484" y="4151412"/>
            <a:ext cx="64794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가격은 잠정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53484" y="4415532"/>
            <a:ext cx="6479489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1봉 원가 [___원] · 매출총이익률 [__%] · 손익분기 [___봉]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가격 조사와 원가표로 검증 후 확정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캡스톤디자인  | 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검증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거부감은 말이 아니라 데이터로 반박한다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23355"/>
            <a:ext cx="3380284" cy="1596231"/>
          </a:xfrm>
          <a:prstGeom prst="roundRect">
            <a:avLst>
              <a:gd name="adj" fmla="val 6166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155130"/>
            <a:ext cx="300423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블라인드 시식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7750" y="2495451"/>
            <a:ext cx="300423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시제품과 시중 그래놀라 1~2종을 비교한다. 맛·식감·향·전반적 선호도를 5점 척도로, 30명 이상.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5809" y="1923355"/>
            <a:ext cx="3380383" cy="1596231"/>
          </a:xfrm>
          <a:prstGeom prst="roundRect">
            <a:avLst>
              <a:gd name="adj" fmla="val 6166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7584" y="2155130"/>
            <a:ext cx="3004338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 변화 설문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37584" y="2495451"/>
            <a:ext cx="3004338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사람에게 세 번 묻는다. 원료를 숨겼을 때, 술지게미라고 밝혔을 때, 브랜딩을 보여준 뒤의 구매 의향.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5741" y="1923355"/>
            <a:ext cx="3380284" cy="1596231"/>
          </a:xfrm>
          <a:prstGeom prst="roundRect">
            <a:avLst>
              <a:gd name="adj" fmla="val 6166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7516" y="2155130"/>
            <a:ext cx="300423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양조장 인터뷰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7516" y="2495451"/>
            <a:ext cx="3004236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주박 월 발생량과 계절 편차, 수분과 보관 기간, 처리 비용, 제공 조건을 듣는다.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3827562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설문에서는 적정 가격, 구독 의향, 가장 끌리는 가치(환경·건강·맛·가격)도 함께 묻는다.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캡스톤디자인  | 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검증 · 결과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원료를 알게 된 뒤, 구매 의향은 어떻게 변했나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23355"/>
            <a:ext cx="6358930" cy="2327870"/>
          </a:xfrm>
          <a:prstGeom prst="roundRect">
            <a:avLst>
              <a:gd name="adj" fmla="val 4228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80530"/>
            <a:ext cx="60199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 의향 (5점 척도, n = [__]명)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633861"/>
            <a:ext cx="22237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원료를 숨겼을 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90900" y="2578001"/>
            <a:ext cx="2479080" cy="342900"/>
          </a:xfrm>
          <a:prstGeom prst="roundRect">
            <a:avLst>
              <a:gd name="adj" fmla="val 12963"/>
            </a:avLst>
          </a:prstGeom>
          <a:noFill/>
          <a:ln w="12700">
            <a:solidFill>
              <a:srgbClr val="A8987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028730" y="2625030"/>
            <a:ext cx="939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[__점]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3150" y="3167261"/>
            <a:ext cx="22237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술지게미라고 밝혔을 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90900" y="3111401"/>
            <a:ext cx="2479080" cy="342900"/>
          </a:xfrm>
          <a:prstGeom prst="roundRect">
            <a:avLst>
              <a:gd name="adj" fmla="val 12963"/>
            </a:avLst>
          </a:prstGeom>
          <a:noFill/>
          <a:ln w="12700">
            <a:solidFill>
              <a:srgbClr val="A8987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028730" y="3158430"/>
            <a:ext cx="939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[__점]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3150" y="3700661"/>
            <a:ext cx="22237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브랜딩을 보여준 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90900" y="3644801"/>
            <a:ext cx="2479080" cy="342900"/>
          </a:xfrm>
          <a:prstGeom prst="roundRect">
            <a:avLst>
              <a:gd name="adj" fmla="val 12963"/>
            </a:avLst>
          </a:prstGeom>
          <a:noFill/>
          <a:ln w="12700">
            <a:solidFill>
              <a:srgbClr val="A8987F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028730" y="3691830"/>
            <a:ext cx="939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[__점]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82880" y="1920180"/>
            <a:ext cx="3896320" cy="1330920"/>
          </a:xfrm>
          <a:prstGeom prst="roundRect">
            <a:avLst>
              <a:gd name="adj" fmla="val 7634"/>
            </a:avLst>
          </a:prstGeom>
          <a:solidFill>
            <a:srgbClr val="2A1F17"/>
          </a:solidFill>
          <a:ln/>
        </p:spPr>
      </p:sp>
      <p:sp>
        <p:nvSpPr>
          <p:cNvPr id="16" name="Text 14"/>
          <p:cNvSpPr/>
          <p:nvPr/>
        </p:nvSpPr>
        <p:spPr>
          <a:xfrm>
            <a:off x="7711480" y="2148780"/>
            <a:ext cx="354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A9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블라인드 시식 (5점)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11480" y="2412901"/>
            <a:ext cx="354229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7F3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맛 [__] · 식감 [__]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7F3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 [__] · 선호도 [__]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82880" y="3378101"/>
            <a:ext cx="401321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결과는 시식·설문 후 입력합니다. 가설: 공개 직후 떨어진 구매 의향이 브랜딩 뒤 회복된다.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캡스톤디자인  | 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로드맵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인식 → 수익 → 환경, 단계마다 목표가 바뀐다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23355"/>
            <a:ext cx="3397250" cy="2284512"/>
          </a:xfrm>
          <a:prstGeom prst="roundRect">
            <a:avLst>
              <a:gd name="adj" fmla="val 4308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155130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출시 ~ 1년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750" y="2457351"/>
            <a:ext cx="302171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단기 · 인식 검증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7750" y="2881511"/>
            <a:ext cx="3021711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영업등록·품목제조보고, 크라우드 펀딩, 자사몰 D2C·정기구독, 숏폼·챌린지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7750" y="3498652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KPI: 펀딩 달성률, 재구매율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7375" y="1923355"/>
            <a:ext cx="3397250" cy="2284512"/>
          </a:xfrm>
          <a:prstGeom prst="roundRect">
            <a:avLst>
              <a:gd name="adj" fmla="val 4308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9150" y="2155130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~ 3년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9150" y="2457351"/>
            <a:ext cx="302171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중기 · 규모 확보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29150" y="2881511"/>
            <a:ext cx="3021711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선물세트·사내 스낵 B2B, 카페·베이커리 납품, 협력 양조장 확대, 커스텀 그래놀라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29150" y="3762772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KPI: BEP 달성, 연간 주박 처리량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8775" y="1923355"/>
            <a:ext cx="3397250" cy="2284512"/>
          </a:xfrm>
          <a:prstGeom prst="roundRect">
            <a:avLst>
              <a:gd name="adj" fmla="val 4308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0550" y="2155130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 이후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10550" y="2457351"/>
            <a:ext cx="302171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장기 · 카테고리 확장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10550" y="2881511"/>
            <a:ext cx="3021711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쌀발효 분말을 제과·제빵·대체식품 B2B 소재로 공급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10550" y="3498652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KPI: 누적 탄소 저감량, 납품처 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캡스톤디자인  | 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7A5C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임팩트와 결론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2A1F1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확인된 숫자만 말한다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23355"/>
            <a:ext cx="3397250" cy="1596231"/>
          </a:xfrm>
          <a:prstGeom prst="roundRect">
            <a:avLst>
              <a:gd name="adj" fmla="val 6166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155130"/>
            <a:ext cx="3021711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 환경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7750" y="2495451"/>
            <a:ext cx="3021711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주박 매립·소각 감축, 탄소 저감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측정: 주박 처리량(kg), 탄소 저감량(kg CO₂eq)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1923355"/>
            <a:ext cx="3397250" cy="1596231"/>
          </a:xfrm>
          <a:prstGeom prst="roundRect">
            <a:avLst>
              <a:gd name="adj" fmla="val 6166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9150" y="2155130"/>
            <a:ext cx="3021711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 사회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29150" y="2495451"/>
            <a:ext cx="3021711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양조장 처리비 절감, 못난이 농산물 활용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측정: 협력 양조장 수, 절감액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1923355"/>
            <a:ext cx="3397250" cy="1596231"/>
          </a:xfrm>
          <a:prstGeom prst="roundRect">
            <a:avLst>
              <a:gd name="adj" fmla="val 6166"/>
            </a:avLst>
          </a:prstGeom>
          <a:solidFill>
            <a:srgbClr val="FDFAF6"/>
          </a:solidFill>
          <a:ln w="6350">
            <a:solidFill>
              <a:srgbClr val="E3D7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0550" y="2155130"/>
            <a:ext cx="3021711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A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 거버넌스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10550" y="2495451"/>
            <a:ext cx="3021711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E4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탄소 계산 방식과 원료 이력 공개, 그린워싱 방지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측정: 공개 항목, 제3자 검증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3827562"/>
            <a:ext cx="10566400" cy="956270"/>
          </a:xfrm>
          <a:prstGeom prst="roundRect">
            <a:avLst>
              <a:gd name="adj" fmla="val 10625"/>
            </a:avLst>
          </a:prstGeom>
          <a:solidFill>
            <a:srgbClr val="2A1F17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4030762"/>
            <a:ext cx="103601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8A9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쌀의 원칙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6800" y="4294882"/>
            <a:ext cx="1036015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7F3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탄소 감축량은 출처가 확인된 계산 방식과 양조장 실측 데이터로 산정한 뒤, 계산식과 함께 공개한다.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5B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캡스톤디자인  | 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51025"/>
            <a:ext cx="8502650" cy="16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F7F3ED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버려지던 쌀이 매일의 아침이 될 때,</a:t>
            </a:r>
            <a:endParaRPr lang="en-US" sz="3000" dirty="0"/>
          </a:p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F7F3ED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업사이클링은 착한 선택이 아니라</a:t>
            </a:r>
            <a:endParaRPr lang="en-US" sz="3000" dirty="0"/>
          </a:p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C8A97E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당연한 선택</a:t>
            </a:r>
            <a:r>
              <a:rPr lang="en-US" sz="3000" b="1" dirty="0">
                <a:solidFill>
                  <a:srgbClr val="F7F3ED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이 된다.</a:t>
            </a:r>
            <a:endParaRPr lang="en-US" sz="3000" dirty="0"/>
          </a:p>
        </p:txBody>
      </p:sp>
      <p:pic>
        <p:nvPicPr>
          <p:cNvPr id="3" name="Image 0" descr="홈페이지 접속 QR코드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3863975"/>
            <a:ext cx="1143000" cy="1143000"/>
          </a:xfrm>
          <a:prstGeom prst="roundRect">
            <a:avLst>
              <a:gd name="adj" fmla="val 4444"/>
            </a:avLst>
          </a:prstGeom>
        </p:spPr>
      </p:pic>
      <p:sp>
        <p:nvSpPr>
          <p:cNvPr id="4" name="Text 1"/>
          <p:cNvSpPr/>
          <p:nvPr/>
        </p:nvSpPr>
        <p:spPr>
          <a:xfrm>
            <a:off x="2209800" y="4116685"/>
            <a:ext cx="41510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7F3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209800" y="4523085"/>
            <a:ext cx="4836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A89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빚음 쌀 · 졸업이조 · lee-tae-in.github.io/Capstone_2-A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빚음 쌀 캡스톤 발표">
  <a:themeElements>
    <a:clrScheme name="빚음 쌀 캡스톤 발표">
      <a:dk1>
        <a:srgbClr val="2A1F17"/>
      </a:dk1>
      <a:lt1>
        <a:srgbClr val="F7F3ED"/>
      </a:lt1>
      <a:dk2>
        <a:srgbClr val="5D544D"/>
      </a:dk2>
      <a:lt2>
        <a:srgbClr val="E3DED8"/>
      </a:lt2>
      <a:accent1>
        <a:srgbClr val="7A5C32"/>
      </a:accent1>
      <a:accent2>
        <a:srgbClr val="C8A97E"/>
      </a:accent2>
      <a:accent3>
        <a:srgbClr val="B83A2E"/>
      </a:accent3>
      <a:accent4>
        <a:srgbClr val="A8987F"/>
      </a:accent4>
      <a:accent5>
        <a:srgbClr val="5E4B3B"/>
      </a:accent5>
      <a:accent6>
        <a:srgbClr val="6E5B4A"/>
      </a:accent6>
      <a:hlink>
        <a:srgbClr val="0563C1"/>
      </a:hlink>
      <a:folHlink>
        <a:srgbClr val="954F72"/>
      </a:folHlink>
    </a:clrScheme>
    <a:fontScheme name="빚음 쌀 캡스톤 발표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빚음 쌀 캡스톤 발표</dc:title>
  <dc:subject/>
  <dc:creator/>
  <cp:lastModifiedBy/>
  <cp:revision>1</cp:revision>
  <dcterms:created xsi:type="dcterms:W3CDTF">2026-10-03T13:16:35Z</dcterms:created>
  <dcterms:modified xsi:type="dcterms:W3CDTF">2026-10-03T13:16:35Z</dcterms:modified>
</cp:coreProperties>
</file>